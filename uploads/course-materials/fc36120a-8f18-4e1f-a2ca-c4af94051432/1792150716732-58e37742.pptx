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Ventes</c:v>
                </c:pt>
              </c:strCache>
            </c:strRef>
          </c:tx>
          <c:spPr>
            <a:solidFill>
              <a:srgbClr val="0E6E8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A2B30"/>
                    </a:solidFill>
                    <a:latin typeface="Arial" panose="020B07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1245</c:v>
                </c:pt>
                <c:pt idx="1">
                  <c:v>1556</c:v>
                </c:pt>
                <c:pt idx="2">
                  <c:v>1452</c:v>
                </c:pt>
                <c:pt idx="3">
                  <c:v>854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5A5A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6abc8bff-40e0-4d22-86b5-196bb423d6f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Prix</c:v>
                </c:pt>
              </c:strCache>
            </c:strRef>
          </c:tx>
          <c:spPr>
            <a:ln w="38100" cap="flat" cmpd="sng" algn="ctr">
              <a:solidFill>
                <a:srgbClr val="16B8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B85C"/>
              </a:solidFill>
              <a:ln w="9525" cap="flat" cmpd="sng" algn="ctr">
                <a:solidFill>
                  <a:srgbClr val="16B85C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1245</c:v>
                </c:pt>
                <c:pt idx="1">
                  <c:v>1556</c:v>
                </c:pt>
                <c:pt idx="2">
                  <c:v>1452</c:v>
                </c:pt>
                <c:pt idx="3">
                  <c:v>854</c:v>
                </c:pt>
                <c:pt idx="4">
                  <c:v>1400</c:v>
                </c:pt>
                <c:pt idx="5">
                  <c:v>5854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5A5A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e26427b4-d62a-40b5-ba9e-c7391ba6829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d'accueil. Présentez-vous, présentez CaNDI Group et l'objectif du cours : rendre le participant autonome sur Windows 11, Word et Excel. Annoncez que le cours alterne théorie et exercices pratiques.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Donnez la carte du cours. Insistez : chaque module théorique est suivi d'exercices pratiques. Rythme conseillé : environ une demi-journée par module pour un public débutant.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du module 1. But : donner le vocabulaire de base. Demandez aux participants ce qu'est pour eux un ordinateur avant de démarrer, pour capter le niveau du groupe.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Expliquez les 3 composants avec une analogie : processeur = cerveau, mémoire = table de travail + tiroirs, périphériques = mains/yeux/oreilles. Montrez une clé USB si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manipuler la souris : clic gauche, clic droit, double-clic. C'est le geste le plus difficile pour les vrais débutants — prévoyez du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minute : taper son prénom en majuscules avec Maj, puis une adresse e-mail avec Alt Gr pour le @. Blocage fréquent chez les débutants.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clé : le système d'exploitation est le chef d'orchestre. Faites le lien avec la suite : nous allons apprendre Windows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2. Windows 11 est sorti en 2021 ; l'interface diffère de Windows 10 (barre centrée). Rassurez : les gestes de base restent les mêmes.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d'attention : la barre des tâches est CENTRÉE, ce qui surprend ceux qui connaissaient Windows 10. Montrez le bouton Démarrer au centre. Insistez sur l'arrêt propre.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créer un second bureau virtuel en direct : Windows + Tab, puis Nouveau bureau. Spectaculaire et motivant pour les débutants.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l'exercice KANKAN tous ensemble, étape par étape. Vérifiez que chacun crée bien les sous-dossiers : c'est ce qui ancre la notion d'arborescence.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Snap : ouvrez deux fenêtres et ancrez-les côte à côte avec Windows + flèches. Montrez brièvement Edge. Copilot : à évoquer seulement avec des débutants.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3. Word = logiciel de traitement de texte. Ce module se termine par 7 exercices pratiques du niveau débutant à intermédiaire.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nommer chaque onglet à voix haute en le pointant à l'écran. Rappelez le réflexe n°1 : enregistrer souvent avec Ctrl +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taper une phrase puis appliquer gras, italique, souligné avec les raccourcis. Ctrl+G/I/U doivent devenir des automatismes.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l'insertion d'un tableau 3x3 et la fusion de deux cellules, puis un en-tête/pied de page. Ces éléments serviront dans les exercices (carte, badge).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Laissez les participants faire les exercices. Circulez dans la salle. Validez chaque exercice avant de passer au suivant. Énoncés détaillés dans le support écrit.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4. Excel = tableur : tableaux, calculs automatiques, graphiques. Point clé à marteler : toute formule commence par le signe =.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repérer une cellule par ses coordonnées (ex. « cliquez sur C5 »). C'est la base de tout Excel. Faites renommer une feuille.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saisir une addition avec =. Puis montrez la poignée de recopie pour appliquer la formule à toute une colonne : le moment « magique » d'Excel.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Insérez un histogramme et une courbe en direct à partir d'un petit tableau. Montrez que le graphique se met à jour quand on change un chiffre.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exercices 3 et 5 sont les plus formateurs. Pour le 5, montrez d'abord un SI simple (ADMIS/REDOUBLE) avant les SI imbriqués (mention). Énoncés complets dans le support écrit.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Distribuez cette liste comme fiche mémo. Encouragez les participants à afficher ces raccourcis près de leur poste de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Concluez en félicitant les participants. Rappelez le support écrit remis et invitez-les à s'entraîner chez 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E6E83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474720" cy="3474720"/>
          </a:xfrm>
          <a:prstGeom prst="ellipse">
            <a:avLst/>
          </a:prstGeom>
          <a:solidFill>
            <a:srgbClr val="16B85C">
              <a:alpha val="3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731520"/>
            <a:ext cx="1005840" cy="1005840"/>
          </a:xfrm>
          <a:prstGeom prst="ellipse">
            <a:avLst/>
          </a:prstGeom>
          <a:solidFill>
            <a:srgbClr val="16B85C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1013155"/>
            <a:ext cx="442570" cy="4425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8686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 GROUP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965960" y="1371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destination la plus sûre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DES COURS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D'INFORMATIQUE DE BASE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68680" y="4343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r>
              <a:rPr lang="en-US" sz="2000" b="1" dirty="0">
                <a:solidFill>
                  <a:srgbClr val="16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r>
              <a:rPr lang="en-US" sz="2000" b="1" dirty="0">
                <a:solidFill>
                  <a:srgbClr val="16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Bâtir aujourd'hui les réussites de demain 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du cours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400" y="1737360"/>
            <a:ext cx="685800" cy="685800"/>
          </a:xfrm>
          <a:prstGeom prst="ellipse">
            <a:avLst/>
          </a:prstGeom>
          <a:solidFill>
            <a:srgbClr val="0E6E83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7373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828800" y="1700784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L'informatique &amp; l'ordinateur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828800" y="2121408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Matériel, périphériques, clavier, système d'exploitation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76148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14400" y="2944368"/>
            <a:ext cx="685800" cy="685800"/>
          </a:xfrm>
          <a:prstGeom prst="ellipse">
            <a:avLst/>
          </a:prstGeom>
          <a:solidFill>
            <a:srgbClr val="0B3140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44368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828800" y="2907792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11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828800" y="3328416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Bureau, fichiers/dossiers, fenêtres, nouveautés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96849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14400" y="4151376"/>
            <a:ext cx="685800" cy="685800"/>
          </a:xfrm>
          <a:prstGeom prst="ellipse">
            <a:avLst/>
          </a:prstGeom>
          <a:solidFill>
            <a:srgbClr val="16B85C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4151376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828800" y="41148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Word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828800" y="4535424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 texte + exercices pratiques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517550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14400" y="5358384"/>
            <a:ext cx="685800" cy="685800"/>
          </a:xfrm>
          <a:prstGeom prst="ellipse">
            <a:avLst/>
          </a:prstGeom>
          <a:solidFill>
            <a:srgbClr val="0E6E83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14400" y="5358384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1828800" y="532180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Excel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1828800" y="5742432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Tableur, formules, graphiques + exercices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3840480" cy="3840480"/>
          </a:xfrm>
          <a:prstGeom prst="ellipse">
            <a:avLst/>
          </a:prstGeom>
          <a:solidFill>
            <a:srgbClr val="0E6E83">
              <a:alpha val="3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71576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0320" y="24231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60320" y="2880360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L'informatique &amp; l'ordinateur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560320" y="374904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machine avant de l'utiliser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L'informatique et l'ordinateur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640080" y="1554480"/>
            <a:ext cx="5486400" cy="2148840"/>
            <a:chOff x="1008" y="2448"/>
            <a:chExt cx="8640" cy="3384"/>
          </a:xfrm>
        </p:grpSpPr>
        <p:sp>
          <p:nvSpPr>
            <p:cNvPr id="7" name="Shape 4"/>
            <p:cNvSpPr/>
            <p:nvPr/>
          </p:nvSpPr>
          <p:spPr>
            <a:xfrm>
              <a:off x="1008" y="2448"/>
              <a:ext cx="8640" cy="3384"/>
            </a:xfrm>
            <a:prstGeom prst="roundRect">
              <a:avLst>
                <a:gd name="adj" fmla="val 3404"/>
              </a:avLst>
            </a:prstGeom>
            <a:solidFill>
              <a:srgbClr val="EAF4F6"/>
            </a:solidFill>
            <a:effectLst>
              <a:outerShdw blurRad="101600" dist="38100" dir="5400000" algn="bl" rotWithShape="0">
                <a:srgbClr val="1A2B3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5"/>
            <p:cNvSpPr/>
            <p:nvPr/>
          </p:nvSpPr>
          <p:spPr>
            <a:xfrm>
              <a:off x="1368" y="2707"/>
              <a:ext cx="792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E6E8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Définitions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1411" y="3571"/>
              <a:ext cx="7848" cy="194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152400" indent="-152400" algn="l">
                <a:lnSpc>
                  <a:spcPct val="10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Informatique = information + automatique.</a:t>
              </a:r>
              <a:endParaRPr lang="en-US" sz="1350" dirty="0"/>
            </a:p>
            <a:p>
              <a:pPr marL="152400" indent="-152400" algn="l">
                <a:lnSpc>
                  <a:spcPct val="10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Traiter automatiquement l'information avec un ordinateur.</a:t>
              </a:r>
              <a:endParaRPr lang="en-US" sz="1350" dirty="0"/>
            </a:p>
            <a:p>
              <a:pPr marL="152400" indent="-152400" algn="l">
                <a:lnSpc>
                  <a:spcPct val="10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L'ordinateur traite les données avec rapidité et de façon rationnelle.</a:t>
              </a:r>
              <a:endParaRPr lang="en-US" sz="135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309360" y="1554480"/>
            <a:ext cx="5212080" cy="2148840"/>
            <a:chOff x="9936" y="2448"/>
            <a:chExt cx="8208" cy="3384"/>
          </a:xfrm>
        </p:grpSpPr>
        <p:sp>
          <p:nvSpPr>
            <p:cNvPr id="10" name="Shape 7"/>
            <p:cNvSpPr/>
            <p:nvPr/>
          </p:nvSpPr>
          <p:spPr>
            <a:xfrm>
              <a:off x="9936" y="2448"/>
              <a:ext cx="8208" cy="3384"/>
            </a:xfrm>
            <a:prstGeom prst="roundRect">
              <a:avLst>
                <a:gd name="adj" fmla="val 3404"/>
              </a:avLst>
            </a:prstGeom>
            <a:solidFill>
              <a:srgbClr val="E7F7EE"/>
            </a:solidFill>
            <a:effectLst>
              <a:outerShdw blurRad="101600" dist="38100" dir="5400000" algn="bl" rotWithShape="0">
                <a:srgbClr val="1A2B3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10296" y="2707"/>
              <a:ext cx="748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6B85C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Formes d'ordinateurs</a:t>
              </a:r>
              <a:endParaRPr lang="en-US" sz="16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10339" y="3571"/>
              <a:ext cx="7416" cy="194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152400" indent="-152400" algn="l">
                <a:lnSpc>
                  <a:spcPct val="10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Ordinateur de bureau (PC)</a:t>
              </a:r>
              <a:endParaRPr lang="en-US" sz="1350" dirty="0"/>
            </a:p>
            <a:p>
              <a:pPr marL="152400" indent="-152400" algn="l">
                <a:lnSpc>
                  <a:spcPct val="10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Ordinateur portable</a:t>
              </a:r>
              <a:endParaRPr lang="en-US" sz="135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40080" y="3977640"/>
            <a:ext cx="3501390" cy="2011680"/>
            <a:chOff x="1008" y="6264"/>
            <a:chExt cx="5514" cy="3168"/>
          </a:xfrm>
        </p:grpSpPr>
        <p:sp>
          <p:nvSpPr>
            <p:cNvPr id="13" name="Shape 10"/>
            <p:cNvSpPr/>
            <p:nvPr/>
          </p:nvSpPr>
          <p:spPr>
            <a:xfrm>
              <a:off x="1008" y="6264"/>
              <a:ext cx="5515" cy="3168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effectLst>
              <a:outerShdw blurRad="101600" dist="38100" dir="5400000" algn="bl" rotWithShape="0">
                <a:srgbClr val="1A2B3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1325" y="6552"/>
              <a:ext cx="4896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E6E8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Le processeur (CPU)</a:t>
              </a:r>
              <a:endParaRPr lang="en-US" sz="15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1325" y="7416"/>
              <a:ext cx="4896" cy="172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Exécute les instructions ; le « cerveau » qui calcule.</a:t>
              </a:r>
              <a:endParaRPr lang="en-US" sz="125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324985" y="3977640"/>
            <a:ext cx="3501390" cy="2011680"/>
            <a:chOff x="6811" y="6264"/>
            <a:chExt cx="5514" cy="3168"/>
          </a:xfrm>
        </p:grpSpPr>
        <p:sp>
          <p:nvSpPr>
            <p:cNvPr id="16" name="Shape 13"/>
            <p:cNvSpPr/>
            <p:nvPr/>
          </p:nvSpPr>
          <p:spPr>
            <a:xfrm>
              <a:off x="6811" y="6264"/>
              <a:ext cx="5515" cy="3168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effectLst>
              <a:outerShdw blurRad="101600" dist="38100" dir="5400000" algn="bl" rotWithShape="0">
                <a:srgbClr val="1A2B3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7128" y="6552"/>
              <a:ext cx="4896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B31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La mémoire</a:t>
              </a:r>
              <a:endParaRPr lang="en-US" sz="15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7128" y="7416"/>
              <a:ext cx="4896" cy="172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RAM (volatile) + stockage (disque, SSD, clé USB).</a:t>
              </a:r>
              <a:endParaRPr lang="en-US" sz="125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8009890" y="3977640"/>
            <a:ext cx="3501390" cy="2011680"/>
            <a:chOff x="12614" y="6264"/>
            <a:chExt cx="5514" cy="3168"/>
          </a:xfrm>
        </p:grpSpPr>
        <p:sp>
          <p:nvSpPr>
            <p:cNvPr id="19" name="Shape 16"/>
            <p:cNvSpPr/>
            <p:nvPr/>
          </p:nvSpPr>
          <p:spPr>
            <a:xfrm>
              <a:off x="12614" y="6264"/>
              <a:ext cx="5515" cy="3168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effectLst>
              <a:outerShdw blurRad="101600" dist="38100" dir="5400000" algn="bl" rotWithShape="0">
                <a:srgbClr val="1A2B3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12931" y="6552"/>
              <a:ext cx="4896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6B85C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Les périphériques</a:t>
              </a:r>
              <a:endParaRPr lang="en-US" sz="15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12931" y="7416"/>
              <a:ext cx="4896" cy="172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Dispositifs connectés à la carte mère.</a:t>
              </a:r>
              <a:endParaRPr lang="en-US" sz="12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Périphériques et souris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E6E83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640080" y="1600200"/>
            <a:ext cx="6766560" cy="1051560"/>
            <a:chOff x="1008" y="2520"/>
            <a:chExt cx="10656" cy="1656"/>
          </a:xfrm>
        </p:grpSpPr>
        <p:sp>
          <p:nvSpPr>
            <p:cNvPr id="7" name="Shape 4"/>
            <p:cNvSpPr/>
            <p:nvPr/>
          </p:nvSpPr>
          <p:spPr>
            <a:xfrm>
              <a:off x="1008" y="2520"/>
              <a:ext cx="10656" cy="1656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effectLst>
              <a:outerShdw blurRad="101600" dist="38100" dir="5400000" algn="bl" rotWithShape="0">
                <a:srgbClr val="1A2B3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2376" y="2693"/>
              <a:ext cx="9072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E6E8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Entrant</a:t>
              </a:r>
              <a:endParaRPr lang="en-US" sz="15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2376" y="3355"/>
              <a:ext cx="9072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Faire entrer l'information — ex. Clavier, souris, scanner, micro</a:t>
              </a:r>
              <a:endParaRPr lang="en-US" sz="125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40080" y="2807335"/>
            <a:ext cx="6766560" cy="1051560"/>
            <a:chOff x="1008" y="4421"/>
            <a:chExt cx="10656" cy="1656"/>
          </a:xfrm>
        </p:grpSpPr>
        <p:sp>
          <p:nvSpPr>
            <p:cNvPr id="11" name="Shape 8"/>
            <p:cNvSpPr/>
            <p:nvPr/>
          </p:nvSpPr>
          <p:spPr>
            <a:xfrm>
              <a:off x="1008" y="4421"/>
              <a:ext cx="10656" cy="1656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effectLst>
              <a:outerShdw blurRad="101600" dist="38100" dir="5400000" algn="bl" rotWithShape="0">
                <a:srgbClr val="1A2B3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1368" y="4882"/>
              <a:ext cx="720" cy="720"/>
            </a:xfrm>
            <a:prstGeom prst="ellipse">
              <a:avLst/>
            </a:prstGeom>
            <a:solidFill>
              <a:srgbClr val="0B31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2376" y="4594"/>
              <a:ext cx="9072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B31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Sortant</a:t>
              </a:r>
              <a:endParaRPr lang="en-US" sz="15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2376" y="5256"/>
              <a:ext cx="9072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Faire sortir l'information — ex. Écran, imprimante, haut-parleur</a:t>
              </a:r>
              <a:endParaRPr lang="en-US" sz="125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40080" y="4014470"/>
            <a:ext cx="6766560" cy="1051560"/>
            <a:chOff x="1008" y="6322"/>
            <a:chExt cx="10656" cy="1656"/>
          </a:xfrm>
        </p:grpSpPr>
        <p:sp>
          <p:nvSpPr>
            <p:cNvPr id="15" name="Shape 12"/>
            <p:cNvSpPr/>
            <p:nvPr/>
          </p:nvSpPr>
          <p:spPr>
            <a:xfrm>
              <a:off x="1008" y="6322"/>
              <a:ext cx="10656" cy="1656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effectLst>
              <a:outerShdw blurRad="101600" dist="38100" dir="5400000" algn="bl" rotWithShape="0">
                <a:srgbClr val="1A2B3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3"/>
            <p:cNvSpPr/>
            <p:nvPr/>
          </p:nvSpPr>
          <p:spPr>
            <a:xfrm>
              <a:off x="1368" y="6782"/>
              <a:ext cx="720" cy="720"/>
            </a:xfrm>
            <a:prstGeom prst="ellipse">
              <a:avLst/>
            </a:prstGeom>
            <a:solidFill>
              <a:srgbClr val="16B85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2376" y="6494"/>
              <a:ext cx="9072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6B85C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Entrant-sortant</a:t>
              </a:r>
              <a:endParaRPr lang="en-US" sz="15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2376" y="7157"/>
              <a:ext cx="9072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Entrer ET sortir — ex. Clé USB, disque dur, écran tactile</a:t>
              </a:r>
              <a:endParaRPr lang="en-US" sz="125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635240" y="1600200"/>
            <a:ext cx="3886200" cy="3703320"/>
            <a:chOff x="12024" y="2520"/>
            <a:chExt cx="6120" cy="5832"/>
          </a:xfrm>
        </p:grpSpPr>
        <p:sp>
          <p:nvSpPr>
            <p:cNvPr id="19" name="Shape 16"/>
            <p:cNvSpPr/>
            <p:nvPr/>
          </p:nvSpPr>
          <p:spPr>
            <a:xfrm>
              <a:off x="12024" y="2520"/>
              <a:ext cx="6120" cy="5832"/>
            </a:xfrm>
            <a:prstGeom prst="roundRect">
              <a:avLst>
                <a:gd name="adj" fmla="val 1975"/>
              </a:avLst>
            </a:prstGeom>
            <a:solidFill>
              <a:srgbClr val="E7F7EE"/>
            </a:solidFill>
            <a:effectLst>
              <a:outerShdw blurRad="101600" dist="38100" dir="5400000" algn="bl" rotWithShape="0">
                <a:srgbClr val="1A2B3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12384" y="2779"/>
              <a:ext cx="540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6B85C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La souris</a:t>
              </a:r>
              <a:endParaRPr lang="en-US" sz="16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12427" y="3643"/>
              <a:ext cx="5328" cy="439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152400" indent="-152400" algn="l">
                <a:lnSpc>
                  <a:spcPct val="10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Clic gauche : sélectionner / activer (le plus utilisé).</a:t>
              </a:r>
              <a:endParaRPr lang="en-US" sz="1350" dirty="0"/>
            </a:p>
            <a:p>
              <a:pPr marL="152400" indent="-152400" algn="l">
                <a:lnSpc>
                  <a:spcPct val="10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Clic droit : menu contextuel (autres actions).</a:t>
              </a:r>
              <a:endParaRPr lang="en-US" sz="1350" dirty="0"/>
            </a:p>
            <a:p>
              <a:pPr marL="152400" indent="-152400" algn="l">
                <a:lnSpc>
                  <a:spcPct val="10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Double-clic : ouvrir un fichier ou lancer un programme.</a:t>
              </a:r>
              <a:endParaRPr lang="en-US" sz="1350" dirty="0"/>
            </a:p>
            <a:p>
              <a:pPr marL="152400" indent="-152400" algn="l">
                <a:lnSpc>
                  <a:spcPct val="10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A2B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Molette : faire défiler la page.</a:t>
              </a:r>
              <a:endParaRPr lang="en-US" sz="13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clavier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190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5 zones du clavier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267712"/>
            <a:ext cx="489204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multimédias (son, Internet, veille).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de fonction F1 à F12 (F1 = Aide).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alphanumériques (chiffres et symboles).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alphabétiques (les lettres « alpha »).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Pavé numérique (activé par Verr. Num).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AZERTY = clavier français  •  QWERTY = anglais.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46520" y="171907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Touches de commande utiles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73952" y="2267712"/>
            <a:ext cx="480060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valider / aller à la ligne.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Échap : annuler / fermer.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 + Verr. Maj : majuscules.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Tabulation : espace contrôlé.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Gr : 3e caractère (ex. @).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: combiné pour les raccourcis.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arrière / Suppr : effacer.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Flèches : se déplacer dans le texte.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système d'exploitation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6035040" cy="2926080"/>
          </a:xfrm>
          <a:prstGeom prst="roundRect">
            <a:avLst>
              <a:gd name="adj" fmla="val 2500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64792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c'est 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313432"/>
            <a:ext cx="55321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logiciel qui gère le lien entre les programmes et le matériel.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organise la mémoire, le stockage et les périphériques.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Windows, Linux, macOS, Android, iOS.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48006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0B3140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4800600"/>
            <a:ext cx="20848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34640" y="48006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0B3140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834640" y="4800600"/>
            <a:ext cx="20848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0" y="48006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0B3140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0" y="4800600"/>
            <a:ext cx="20848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223760" y="4800600"/>
            <a:ext cx="2084832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23760" y="4800600"/>
            <a:ext cx="20848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418320" y="4800600"/>
            <a:ext cx="2084832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418320" y="4800600"/>
            <a:ext cx="20848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949440" y="1600200"/>
            <a:ext cx="4572000" cy="2926080"/>
          </a:xfrm>
          <a:prstGeom prst="roundRect">
            <a:avLst>
              <a:gd name="adj" fmla="val 2500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178040" y="176479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Retenir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205472" y="2313432"/>
            <a:ext cx="40690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système d'exploitation, la machine ne fonctionne pas.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donne à chaque programme l'illusion de disposer de toutes les ressources.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cours utilise Windows 11.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3840480" cy="3840480"/>
          </a:xfrm>
          <a:prstGeom prst="ellipse">
            <a:avLst/>
          </a:prstGeom>
          <a:solidFill>
            <a:srgbClr val="0B3140">
              <a:alpha val="3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B3140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71576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0320" y="24231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B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60320" y="2880360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11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560320" y="374904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bureau, les fichiers et les fenêtres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B3140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11 : généralités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1907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L'essentiel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267712"/>
            <a:ext cx="49834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d'exploitation de Microsoft, sorti en octobre 2021.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Successeur de Windows 10.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Éditions : Famille, Pro, Entreprise, Éducation.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: 4 Go RAM, 64 Go, puce TPM 2.0.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7190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Nouveautés vs Windows 10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65392" y="2267712"/>
            <a:ext cx="47091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Démarrer et barre des tâches centrés.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arrondis, nouveaux menus contextuels.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à la place des tuiles dynamiques.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remplace Cortana.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406908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42062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Démarrer, se connecter, éteindre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8680" y="4709160"/>
            <a:ext cx="1042416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Allumer : </a:t>
            </a: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Marche/Arrêt (façade de la tour ou au-dessus du clavier).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: 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sa session, saisir mot de passe / PIN / Windows Hello.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Éteindre : 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▸ Marche/Arrêt ▸ Arrêter, Redémarrer ou Mettre en veille.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B3140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bureau et la barre des tâches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1907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Zones du bureau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267712"/>
            <a:ext cx="49834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travail : où se posent les icônes.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des tâches centrée (toujours visible).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Démarrer, Recherche, Vue des tâches.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et zone de notification (à droite).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7190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icônes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65392" y="2267712"/>
            <a:ext cx="47091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: double-clic pour ouvrir.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: double-clic pour ouvrir le contenu.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: documents, images…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Corbeille : à vider pour supprimer définitivement.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406908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423367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Démarrer &amp; bureaux virtuels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6112" y="4782312"/>
            <a:ext cx="10378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épinglées + « Toutes les applications » (liste A→Z).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: fichiers et applications récents.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virtuels : Vue des tâches (Windows + Tab) ▸ + Nouveau bureau — ex. un bureau « Travail » et un « Personnel ».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B3140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fichiers et dossiers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1907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Opérations de base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267712"/>
            <a:ext cx="498348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: clic droit ▸ Nouveau ▸ Dossier ▸ nommer ▸ Entrée.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Renommer : clic droit ▸ Renommer.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: double-clic (ou clic droit ▸ Ouvrir).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 : croix (✕) ou Alt + F4.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: clic droit ▸ Supprimer (va à la Corbeille).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Restaurer : Corbeille ▸ clic droit ▸ Restaurer.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: loupe ou Explorateur (Windows + E).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7190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Copier / Couper / Coller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65392" y="2267712"/>
            <a:ext cx="47091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(Ctrl + C) : garde l'original.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(Ctrl + X) : déplace l'élément.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(Ctrl + V) : dépose à la destination.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clic droit compact ▸ « Afficher plus d'options » pour le menu complet.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09360" y="434340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37960" y="44805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</a:t>
            </a:r>
            <a:r>
              <a:rPr lang="en-US" sz="15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guide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37960" y="489204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dossier « KANKAN » contenant Gouvernorat, Mairie, Préfecture, Jeunesse ; dans chacun, un dossier au nom d'un quartier de la ville.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B3140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Fenêtres, Snap, Edge et Copilot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1907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fenêtres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267712"/>
            <a:ext cx="498348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titre : nom + déplacement de la fenêtre.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Réduire (—), Agrandir (▢), Fermer (✕).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: glisser la barre de titre.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Redimensionner : tirer un bord ou un coin.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7190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Ancrer les fenêtres (Snap)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65392" y="2267712"/>
            <a:ext cx="47091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Survoler le bouton Agrandir ▸ choisir une disposition.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Assist propose les autres fenêtres.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Raccourci : Windows + ← / → / ↑ / ↓.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434340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450799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Edge &amp; Copilot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6112" y="5056632"/>
            <a:ext cx="10378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Edge : le navigateur pour accéder à Internet (installé par défaut).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: l'assistant intelligent de Windows 11 (remplace Cortana) — rechercher, résumer, rédiger à partir d'une question.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3840480" cy="3840480"/>
          </a:xfrm>
          <a:prstGeom prst="ellipse">
            <a:avLst/>
          </a:prstGeom>
          <a:solidFill>
            <a:srgbClr val="16B85C">
              <a:alpha val="3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16B85C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71576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0320" y="24231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16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60320" y="2880360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Word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560320" y="374904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traitement de texte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16B85C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: la fenêtre et le ruban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1907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Éléments de la fenêtre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267712"/>
            <a:ext cx="498348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titre : nom du document.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d'accès rapide : Enregistrer, Annuler.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ruban : commandes classées par onglets.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: marges et retraits.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saisie : où l'on tape le texte.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d'état : page, nombre de mots, zoom.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: Démarrer ▸ Word (ou recherche « Word »).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7190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onglets du ruban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65392" y="2267712"/>
            <a:ext cx="470916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: police, gras, styles.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: images, tableaux, en-têtes.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: marges, orientation, colonnes.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: notes, table des matières.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Publipostage : mailings, étiquettes.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: correction, protection.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: modes et zoom.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16B85C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: mise en forme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le texte, puis appliquer le format.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640080" y="1965960"/>
          <a:ext cx="6035040" cy="3657600"/>
        </p:xfrm>
        <a:graphic>
          <a:graphicData uri="http://schemas.openxmlformats.org/drawingml/2006/table">
            <a:tbl>
              <a:tblPr/>
              <a:tblGrid>
                <a:gridCol w="3749040"/>
                <a:gridCol w="228600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Raccourci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8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G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Italique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I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Souligné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U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Aligner à gauche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Maj + G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Centrer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E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Aligner à droite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Maj + D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Justifier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J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0" y="1965960"/>
            <a:ext cx="4572000" cy="3977640"/>
          </a:xfrm>
          <a:prstGeom prst="roundRect">
            <a:avLst>
              <a:gd name="adj" fmla="val 1839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178040" y="21305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Aussi utile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205472" y="2679192"/>
            <a:ext cx="4069080" cy="3063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et taille : onglet Accueil.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du texte et surlignage.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Exposant x² / Indice x₂.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Puces et numérotation.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Reproduire la mise en forme (pinceau).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recliquer sur l'icône annule le format.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16B85C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: mise en page et objets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</a:t>
            </a: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190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page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267712"/>
            <a:ext cx="315468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: Portrait / Paysage.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Marges (Disposition ▸ Marges).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type journal + ligne séparatrice.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Lettrine (grande lettre en début de para.).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Bordure et trame (onglet Création).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15544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09160" y="171907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36592" y="2267712"/>
            <a:ext cx="301752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: Insertion ▸ Tableau.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ligne/colonne (Disposition).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ligne / colonne / tableau.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 des cellules.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Fractionner une cellule.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183880" y="155448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412480" y="171907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Objets &amp; impression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39912" y="2267712"/>
            <a:ext cx="283464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WordArt : texte décoratif.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habillage du texte.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 / pied de page.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de page.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Organigramme (SmartArt).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 : Fichier ▸ Imprimer (Ctrl + P).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16B85C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: exercices pratiques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148840"/>
            <a:ext cx="493776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Saisir un texte, corriger, enregistrer (Ctrl+S), rouvrir.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Gras / italique / souligné + centrer + changer la police.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Recopier une phrase et tester les 4 alignements.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26480" y="15544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55080" y="16916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55080" y="2148840"/>
            <a:ext cx="493776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Saisie type journal : 2 colonnes + lettrine + bordure.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Tableau : fusion, trame de fond, bordures.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Carte d'invitation / badge : WordArt + image + en-tête.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Organigramme de CaNDI avec SmartArt.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3840480" cy="3840480"/>
          </a:xfrm>
          <a:prstGeom prst="ellipse">
            <a:avLst/>
          </a:prstGeom>
          <a:solidFill>
            <a:srgbClr val="0E6E83">
              <a:alpha val="3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71576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0320" y="24231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60320" y="2880360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Excel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560320" y="374904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tableur : calculs et graphiques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: vocabulaire de base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1907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267712"/>
            <a:ext cx="49834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Tableur : logiciel de tableaux et de calculs.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Grapheur : représente les données (courbe, histogramme…).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Classeur : le fichier Excel (plusieurs feuilles).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calcul : cellules organisées en tableau.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7190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cellule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65392" y="2267712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d'une ligne (numéro) et d'une colonne (lettre).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la cellule B4.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cellule active apparaît en surbrillance.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44805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464515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feuilles, lignes, colonnes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6112" y="5193792"/>
            <a:ext cx="103784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: + en bas, ou clic droit sur l'onglet ▸ Insérer / Supprimer / Renommer.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/ Colonne : clic droit sur l'en-tête (numéro ou lettre) ▸ Insertion / Supprimer.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: formules et fonctions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formule commence par le signe  =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40080" y="1965960"/>
          <a:ext cx="7680960" cy="352044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46888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8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 −  *  /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Opérations de base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=A1+B1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^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Puissance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=A1^2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=SOMME()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Additionne une plage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=SOMME(A1:A10)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=MOYENNE()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Calcule la moyenne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=MOYENNE(B2:B9)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=MAX() / =MIN()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grande / petite valeur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=MAX(C2:C9)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=SI()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conditionnel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=SI(D2&gt;=5;"ADMIS";"REDOUBLE")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549640" y="1965960"/>
            <a:ext cx="2971800" cy="3977640"/>
          </a:xfrm>
          <a:prstGeom prst="roundRect">
            <a:avLst>
              <a:gd name="adj" fmla="val 2462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778240" y="2130552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Astuce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805672" y="2679192"/>
            <a:ext cx="2468880" cy="3063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Poignée de recopie : le petit carré en bas à droite d'une cellule.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glisser recopie automatiquement la formule.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 un temps considérable.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: tri, filtre et graphiques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1907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Trier &amp; filtrer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267712"/>
            <a:ext cx="49834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: Données ▸ Trier (croissant / décroissant).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automatique : Données ▸ Filtrer.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flèches apparaissent dans l'en-tête pour n'afficher que certaines lignes.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7190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Graphiques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65392" y="2267712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les données ▸ Insertion ▸ Graphiques.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type : histogramme, courbe, secteur.</a:t>
            </a:r>
            <a:endParaRPr lang="en-US" sz="1350" dirty="0"/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graphique illustre les chiffres du tableau.</a:t>
            </a:r>
            <a:endParaRPr lang="en-US" sz="13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40080" y="4206240"/>
          <a:ext cx="548640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Chart 1"/>
          <p:cNvGraphicFramePr/>
          <p:nvPr/>
        </p:nvGraphicFramePr>
        <p:xfrm>
          <a:off x="6309360" y="4206240"/>
          <a:ext cx="52120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E6E83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: exercices pratiques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4F6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6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148840"/>
            <a:ext cx="493776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Calculs simples : X+Y, X−Y, X×Y, X/Y, X², X³.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Somme et moyenne d'une série de notes + mise en forme.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26480" y="15544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7F7EE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55080" y="16916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55080" y="2148840"/>
            <a:ext cx="493776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Facture : Montant, MAX, MIN, MOYENNE, TOTAL (format GNF).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Prix TTC = PrixHT × (1 + TVA/100).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Bulletin : moyenne pondérée + fonction SI (mention).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Filtre automatique sur un tableau de produits.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Courbe et histogramme (représentation graphique).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B3140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674827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Raccourcis clavier essentiels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Support des cours d'infos de 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digitalcandi2@gmail.com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11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640080" y="1965960"/>
          <a:ext cx="5394960" cy="3621024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Raccourci</a:t>
                      </a:r>
                      <a:endParaRPr lang="en-US" sz="12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1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Démarrer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+ E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Explorateur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+ I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+ D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Afficher le bureau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+ Tab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des tâches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+ ←/→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Ancrer la fenêtre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+ Tab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Changer de fenêtre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+ F4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Fermer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172200" y="15544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&amp; Excel</a:t>
            </a:r>
            <a:endParaRPr lang="en-US" sz="16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/>
        </p:nvGraphicFramePr>
        <p:xfrm>
          <a:off x="6172200" y="1965960"/>
          <a:ext cx="5394960" cy="3621024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Raccourci</a:t>
                      </a:r>
                      <a:endParaRPr lang="en-US" sz="12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B8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B8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Enregistrer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C / X / V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Copier / Couper / Coller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Z / Y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Annuler / Rétablir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G / I / U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 / Italique / Souligné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E / J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Centrer / Justifier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A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sélectionner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P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Imprimer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Débuter une formule (Excel)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16B85C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188720" y="4206240"/>
            <a:ext cx="3657600" cy="3657600"/>
          </a:xfrm>
          <a:prstGeom prst="ellipse">
            <a:avLst/>
          </a:prstGeom>
          <a:solidFill>
            <a:srgbClr val="0E6E83">
              <a:alpha val="3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94960" y="1234440"/>
            <a:ext cx="1371600" cy="1371600"/>
          </a:xfrm>
          <a:prstGeom prst="ellipse">
            <a:avLst/>
          </a:prstGeom>
          <a:solidFill>
            <a:srgbClr val="16B85C"/>
          </a:solidFill>
          <a:effectLst>
            <a:outerShdw blurRad="101600" dist="38100" dir="5400000" algn="bl" rotWithShape="0">
              <a:srgbClr val="1A2B3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1848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8036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et bonne formation !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formateur guide, la pratique forme.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 Group</a:t>
            </a:r>
            <a:r>
              <a:rPr lang="en-US" sz="14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digitalcandi2@gmail.com   •   626 01 17 17 / 621 788 508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6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Bâtir aujourd'hui les réussites de demain »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10930</Words>
  <Application>WPS Docs</Application>
  <PresentationFormat>Widescreen</PresentationFormat>
  <Paragraphs>611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Arial</vt:lpstr>
      <vt:lpstr>SimSun</vt:lpstr>
      <vt:lpstr>Wingdings</vt:lpstr>
      <vt:lpstr>Cambria</vt:lpstr>
      <vt:lpstr>苹方-简</vt:lpstr>
      <vt:lpstr>Cambria</vt:lpstr>
      <vt:lpstr>Cambria</vt:lpstr>
      <vt:lpstr>Calibri</vt:lpstr>
      <vt:lpstr>Calibri</vt:lpstr>
      <vt:lpstr>Calibri</vt:lpstr>
      <vt:lpstr>Helvetica Neue</vt:lpstr>
      <vt:lpstr>Microsoft YaHei</vt:lpstr>
      <vt:lpstr>汉仪旗黑</vt:lpstr>
      <vt:lpstr>Arial Unicode MS</vt:lpstr>
      <vt:lpstr>Aptos</vt:lpstr>
      <vt:lpstr>Arial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des cours d'infos de base — Windows 11, Word, Excel</dc:title>
  <dc:creator>CaNDI Group</dc:creator>
  <dc:subject>PptxGenJS Presentation</dc:subject>
  <cp:lastModifiedBy>Brahima Sanogo</cp:lastModifiedBy>
  <cp:revision>3</cp:revision>
  <dcterms:created xsi:type="dcterms:W3CDTF">2026-07-13T13:42:38Z</dcterms:created>
  <dcterms:modified xsi:type="dcterms:W3CDTF">2026-07-13T13:42:38Z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BA63F3F1FAF85D924EEB546A69C7F177_42</vt:lpwstr>
  </property>
  <property fmtid="{D5CDD505-2E9C-101B-9397-08002B2CF9AE}" pid="3" name="KSOProductBuildVer">
    <vt:lpwstr>1033-12.1.26015.26015</vt:lpwstr>
  </property>
</Properties>
</file>